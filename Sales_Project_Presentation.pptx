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422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 Sales</c:v>
                </c:pt>
              </c:strCache>
            </c:strRef>
          </c:tx>
          <c:spPr>
            <a:ln w="31750" cap="flat">
              <a:solidFill>
                <a:srgbClr val="E5091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155000</c:v>
                </c:pt>
                <c:pt idx="1">
                  <c:v>130000</c:v>
                </c:pt>
                <c:pt idx="2">
                  <c:v>198000</c:v>
                </c:pt>
                <c:pt idx="3">
                  <c:v>172000</c:v>
                </c:pt>
                <c:pt idx="4">
                  <c:v>215000</c:v>
                </c:pt>
                <c:pt idx="5">
                  <c:v>190000</c:v>
                </c:pt>
                <c:pt idx="6">
                  <c:v>175000</c:v>
                </c:pt>
                <c:pt idx="7">
                  <c:v>230000</c:v>
                </c:pt>
                <c:pt idx="8">
                  <c:v>262000</c:v>
                </c:pt>
                <c:pt idx="9">
                  <c:v>205000</c:v>
                </c:pt>
                <c:pt idx="10">
                  <c:v>285000</c:v>
                </c:pt>
                <c:pt idx="11">
                  <c:v>280000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D97-4C2B-A6EC-3F64C722D8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 Sales</c:v>
                </c:pt>
              </c:strCache>
            </c:strRef>
          </c:tx>
          <c:spPr>
            <a:ln w="31750" cap="flat">
              <a:solidFill>
                <a:srgbClr val="55555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138000</c:v>
                </c:pt>
                <c:pt idx="1">
                  <c:v>115000</c:v>
                </c:pt>
                <c:pt idx="2">
                  <c:v>178000</c:v>
                </c:pt>
                <c:pt idx="3">
                  <c:v>155000</c:v>
                </c:pt>
                <c:pt idx="4">
                  <c:v>195000</c:v>
                </c:pt>
                <c:pt idx="5">
                  <c:v>172000</c:v>
                </c:pt>
                <c:pt idx="6">
                  <c:v>158000</c:v>
                </c:pt>
                <c:pt idx="7">
                  <c:v>210000</c:v>
                </c:pt>
                <c:pt idx="8">
                  <c:v>240000</c:v>
                </c:pt>
                <c:pt idx="9">
                  <c:v>185000</c:v>
                </c:pt>
                <c:pt idx="10">
                  <c:v>255000</c:v>
                </c:pt>
                <c:pt idx="11">
                  <c:v>256000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D97-4C2B-A6EC-3F64C722D8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2A2A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 Profit</c:v>
                </c:pt>
              </c:strCache>
            </c:strRef>
          </c:tx>
          <c:spPr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18000</c:v>
                </c:pt>
                <c:pt idx="1">
                  <c:v>14000</c:v>
                </c:pt>
                <c:pt idx="2">
                  <c:v>27000</c:v>
                </c:pt>
                <c:pt idx="3">
                  <c:v>22000</c:v>
                </c:pt>
                <c:pt idx="4">
                  <c:v>29000</c:v>
                </c:pt>
                <c:pt idx="5">
                  <c:v>24000</c:v>
                </c:pt>
                <c:pt idx="6">
                  <c:v>21000</c:v>
                </c:pt>
                <c:pt idx="7">
                  <c:v>33000</c:v>
                </c:pt>
                <c:pt idx="8">
                  <c:v>38000</c:v>
                </c:pt>
                <c:pt idx="9">
                  <c:v>28000</c:v>
                </c:pt>
                <c:pt idx="10">
                  <c:v>42000</c:v>
                </c:pt>
                <c:pt idx="11">
                  <c:v>38000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400-4A51-AE86-B2C9D44680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 Profit</c:v>
                </c:pt>
              </c:strCache>
            </c:strRef>
          </c:tx>
          <c:spPr>
            <a:ln w="31750" cap="flat">
              <a:solidFill>
                <a:srgbClr val="44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44444"/>
              </a:solidFill>
              <a:ln w="9525" cap="flat">
                <a:solidFill>
                  <a:srgbClr val="44444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14000</c:v>
                </c:pt>
                <c:pt idx="1">
                  <c:v>11000</c:v>
                </c:pt>
                <c:pt idx="2">
                  <c:v>22000</c:v>
                </c:pt>
                <c:pt idx="3">
                  <c:v>18000</c:v>
                </c:pt>
                <c:pt idx="4">
                  <c:v>24000</c:v>
                </c:pt>
                <c:pt idx="5">
                  <c:v>19000</c:v>
                </c:pt>
                <c:pt idx="6">
                  <c:v>17000</c:v>
                </c:pt>
                <c:pt idx="7">
                  <c:v>27000</c:v>
                </c:pt>
                <c:pt idx="8">
                  <c:v>32000</c:v>
                </c:pt>
                <c:pt idx="9">
                  <c:v>22000</c:v>
                </c:pt>
                <c:pt idx="10">
                  <c:v>35000</c:v>
                </c:pt>
                <c:pt idx="11">
                  <c:v>30000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400-4A51-AE86-B2C9D44680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2A2A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 Qty</c:v>
                </c:pt>
              </c:strCache>
            </c:strRef>
          </c:tx>
          <c:spPr>
            <a:ln w="3175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2600</c:v>
                </c:pt>
                <c:pt idx="1">
                  <c:v>2200</c:v>
                </c:pt>
                <c:pt idx="2">
                  <c:v>3400</c:v>
                </c:pt>
                <c:pt idx="3">
                  <c:v>2900</c:v>
                </c:pt>
                <c:pt idx="4">
                  <c:v>3800</c:v>
                </c:pt>
                <c:pt idx="5">
                  <c:v>3400</c:v>
                </c:pt>
                <c:pt idx="6">
                  <c:v>3100</c:v>
                </c:pt>
                <c:pt idx="7">
                  <c:v>4000</c:v>
                </c:pt>
                <c:pt idx="8">
                  <c:v>4500</c:v>
                </c:pt>
                <c:pt idx="9">
                  <c:v>3700</c:v>
                </c:pt>
                <c:pt idx="10">
                  <c:v>5000</c:v>
                </c:pt>
                <c:pt idx="11">
                  <c:v>4800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B69-4402-A22F-C035B095DB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 Qty</c:v>
                </c:pt>
              </c:strCache>
            </c:strRef>
          </c:tx>
          <c:spPr>
            <a:ln w="31750" cap="flat">
              <a:solidFill>
                <a:srgbClr val="44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44444"/>
              </a:solidFill>
              <a:ln w="9525" cap="flat">
                <a:solidFill>
                  <a:srgbClr val="44444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2300</c:v>
                </c:pt>
                <c:pt idx="1">
                  <c:v>1980</c:v>
                </c:pt>
                <c:pt idx="2">
                  <c:v>3100</c:v>
                </c:pt>
                <c:pt idx="3">
                  <c:v>2600</c:v>
                </c:pt>
                <c:pt idx="4">
                  <c:v>3400</c:v>
                </c:pt>
                <c:pt idx="5">
                  <c:v>3000</c:v>
                </c:pt>
                <c:pt idx="6">
                  <c:v>2800</c:v>
                </c:pt>
                <c:pt idx="7">
                  <c:v>3600</c:v>
                </c:pt>
                <c:pt idx="8">
                  <c:v>4100</c:v>
                </c:pt>
                <c:pt idx="9">
                  <c:v>3300</c:v>
                </c:pt>
                <c:pt idx="10">
                  <c:v>4500</c:v>
                </c:pt>
                <c:pt idx="11">
                  <c:v>4300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B69-4402-A22F-C035B095DB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2A2A2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Profit by Region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CY Profit by Region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108418</c:v>
                </c:pt>
                <c:pt idx="1">
                  <c:v>91523</c:v>
                </c:pt>
                <c:pt idx="2">
                  <c:v>39706</c:v>
                </c:pt>
                <c:pt idx="3">
                  <c:v>46749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6B-4B7C-A93C-1FBC13B4E6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A2A2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Monthly Sales — All Segments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Consumer</c:v>
                </c:pt>
              </c:strCache>
            </c:strRef>
          </c:tx>
          <c:spPr>
            <a:ln w="31750" cap="flat">
              <a:solidFill>
                <a:srgbClr val="E5091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22000</c:v>
                </c:pt>
                <c:pt idx="1">
                  <c:v>18000</c:v>
                </c:pt>
                <c:pt idx="2">
                  <c:v>35000</c:v>
                </c:pt>
                <c:pt idx="3">
                  <c:v>28000</c:v>
                </c:pt>
                <c:pt idx="4">
                  <c:v>42000</c:v>
                </c:pt>
                <c:pt idx="5">
                  <c:v>38000</c:v>
                </c:pt>
                <c:pt idx="6">
                  <c:v>31000</c:v>
                </c:pt>
                <c:pt idx="7">
                  <c:v>46000</c:v>
                </c:pt>
                <c:pt idx="8">
                  <c:v>50000</c:v>
                </c:pt>
                <c:pt idx="9">
                  <c:v>39000</c:v>
                </c:pt>
                <c:pt idx="10">
                  <c:v>52000</c:v>
                </c:pt>
                <c:pt idx="11">
                  <c:v>48000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743-4674-8C40-D1A912FE6E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Corporate</c:v>
                </c:pt>
              </c:strCache>
            </c:strRef>
          </c:tx>
          <c:spPr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10000</c:v>
                </c:pt>
                <c:pt idx="1">
                  <c:v>12000</c:v>
                </c:pt>
                <c:pt idx="2">
                  <c:v>18000</c:v>
                </c:pt>
                <c:pt idx="3">
                  <c:v>15000</c:v>
                </c:pt>
                <c:pt idx="4">
                  <c:v>22000</c:v>
                </c:pt>
                <c:pt idx="5">
                  <c:v>19000</c:v>
                </c:pt>
                <c:pt idx="6">
                  <c:v>16000</c:v>
                </c:pt>
                <c:pt idx="7">
                  <c:v>24000</c:v>
                </c:pt>
                <c:pt idx="8">
                  <c:v>26000</c:v>
                </c:pt>
                <c:pt idx="9">
                  <c:v>22000</c:v>
                </c:pt>
                <c:pt idx="10">
                  <c:v>28000</c:v>
                </c:pt>
                <c:pt idx="11">
                  <c:v>25000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743-4674-8C40-D1A912FE6E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Home Office</c:v>
                </c:pt>
              </c:strCache>
            </c:strRef>
          </c:tx>
          <c:spPr>
            <a:ln w="3175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6000</c:v>
                </c:pt>
                <c:pt idx="1">
                  <c:v>7000</c:v>
                </c:pt>
                <c:pt idx="2">
                  <c:v>10000</c:v>
                </c:pt>
                <c:pt idx="3">
                  <c:v>9000</c:v>
                </c:pt>
                <c:pt idx="4">
                  <c:v>13000</c:v>
                </c:pt>
                <c:pt idx="5">
                  <c:v>11000</c:v>
                </c:pt>
                <c:pt idx="6">
                  <c:v>9000</c:v>
                </c:pt>
                <c:pt idx="7">
                  <c:v>14000</c:v>
                </c:pt>
                <c:pt idx="8">
                  <c:v>15000</c:v>
                </c:pt>
                <c:pt idx="9">
                  <c:v>12000</c:v>
                </c:pt>
                <c:pt idx="10">
                  <c:v>17000</c:v>
                </c:pt>
                <c:pt idx="11">
                  <c:v>14000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C743-4674-8C40-D1A912FE6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2A2A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8 States — Sales vs Profit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California</c:v>
                </c:pt>
                <c:pt idx="1">
                  <c:v>New York</c:v>
                </c:pt>
                <c:pt idx="2">
                  <c:v>Texas</c:v>
                </c:pt>
                <c:pt idx="3">
                  <c:v>Washington</c:v>
                </c:pt>
                <c:pt idx="4">
                  <c:v>Pennsylvania</c:v>
                </c:pt>
                <c:pt idx="5">
                  <c:v>Ohio</c:v>
                </c:pt>
                <c:pt idx="6">
                  <c:v>Illinois</c:v>
                </c:pt>
                <c:pt idx="7">
                  <c:v>Florida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457</c:v>
                </c:pt>
                <c:pt idx="1">
                  <c:v>310</c:v>
                </c:pt>
                <c:pt idx="2">
                  <c:v>170</c:v>
                </c:pt>
                <c:pt idx="3">
                  <c:v>235</c:v>
                </c:pt>
                <c:pt idx="4">
                  <c:v>116</c:v>
                </c:pt>
                <c:pt idx="5">
                  <c:v>138</c:v>
                </c:pt>
                <c:pt idx="6">
                  <c:v>87</c:v>
                </c:pt>
                <c:pt idx="7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FD-4F03-B556-4DAA46257E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California</c:v>
                </c:pt>
                <c:pt idx="1">
                  <c:v>New York</c:v>
                </c:pt>
                <c:pt idx="2">
                  <c:v>Texas</c:v>
                </c:pt>
                <c:pt idx="3">
                  <c:v>Washington</c:v>
                </c:pt>
                <c:pt idx="4">
                  <c:v>Pennsylvania</c:v>
                </c:pt>
                <c:pt idx="5">
                  <c:v>Ohio</c:v>
                </c:pt>
                <c:pt idx="6">
                  <c:v>Illinois</c:v>
                </c:pt>
                <c:pt idx="7">
                  <c:v>Florida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76</c:v>
                </c:pt>
                <c:pt idx="1">
                  <c:v>52</c:v>
                </c:pt>
                <c:pt idx="2">
                  <c:v>18</c:v>
                </c:pt>
                <c:pt idx="3">
                  <c:v>42</c:v>
                </c:pt>
                <c:pt idx="4">
                  <c:v>14</c:v>
                </c:pt>
                <c:pt idx="5">
                  <c:v>8</c:v>
                </c:pt>
                <c:pt idx="6">
                  <c:v>9</c:v>
                </c:pt>
                <c:pt idx="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FD-4F03-B556-4DAA46257E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2A2A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056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E7104-AC33-D9A8-E40F-BA843C30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0BBB8-A733-5968-E418-78239A2FB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24237-E6A6-11DF-D22E-91BF33B62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792B0-5F4B-5D5F-3C1B-41A4EBA05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319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svg"/><Relationship Id="rId7" Type="http://schemas.openxmlformats.org/officeDocument/2006/relationships/hyperlink" Target="http://www.linkedin.com/in/rimi-singha-3093b532b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rimi.singha01@gmail.com" TargetMode="Externa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4114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5669280" cy="16459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0" y="274320"/>
            <a:ext cx="3108960" cy="17373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2148840"/>
            <a:ext cx="3108960" cy="17373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0" y="274320"/>
            <a:ext cx="91440" cy="17373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Shape 5"/>
          <p:cNvSpPr/>
          <p:nvPr/>
        </p:nvSpPr>
        <p:spPr>
          <a:xfrm>
            <a:off x="5852160" y="2148840"/>
            <a:ext cx="91440" cy="1737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0914"/>
                </a:solidFill>
              </a:rPr>
              <a:t>14 Worksheets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0" y="868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KPI • Profit KPI • Quantity KPI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Sparklines • Region Wise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by Segment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Advanced Features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5040" y="2697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Expressions • Parameters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Measures • YOY Calc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Intelligence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6576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65760" y="2194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 Project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2697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dashboards, KPI tracking, state-wise analysis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dynamic measure switching using Orders+ dataset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5445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</a:rPr>
              <a:t>Tableau Desktop   •   Orders+ (Sales Data)   •   14 Worksheets   •   Advanced Calculations &amp; Parameters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A16E3D-F96D-5238-B168-BB845972D28D}"/>
              </a:ext>
            </a:extLst>
          </p:cNvPr>
          <p:cNvSpPr txBox="1"/>
          <p:nvPr/>
        </p:nvSpPr>
        <p:spPr>
          <a:xfrm>
            <a:off x="5976013" y="4043207"/>
            <a:ext cx="30033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mo Italics" panose="020B0604020202020204" charset="0"/>
                <a:ea typeface="Arimo Italics" panose="020B0604020202020204" charset="0"/>
                <a:cs typeface="Arimo Italics" panose="020B0604020202020204" charset="0"/>
              </a:rPr>
              <a:t>Presented by  --  Rimi Singha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20624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502920" cy="5486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704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338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3898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Objective, tools &amp; 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420624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737360"/>
            <a:ext cx="502920" cy="5486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81051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17739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Source &amp; Fields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029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Tables, measures &amp; dimensions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420624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377440"/>
            <a:ext cx="502920" cy="5486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4505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4140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Statistics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26700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KPI snapshot from the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420624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017520"/>
            <a:ext cx="502920" cy="5486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09067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0540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Sales KPI &amp; Sparkline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33101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Current Year vs Prior Year Sales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420624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657600"/>
            <a:ext cx="502920" cy="5486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73075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36941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Profit KPI &amp; Sparkline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3950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YOY profit trends by month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297680"/>
            <a:ext cx="420624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" y="4297680"/>
            <a:ext cx="502920" cy="5486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3708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" y="43342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Quantity KPI &amp; Sparkline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" y="45902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Order quantity trends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1097280"/>
            <a:ext cx="420624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7" name="Shape 35"/>
          <p:cNvSpPr/>
          <p:nvPr/>
        </p:nvSpPr>
        <p:spPr>
          <a:xfrm>
            <a:off x="4709160" y="1097280"/>
            <a:ext cx="50292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11704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11338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Avg Sales by State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03520" y="13898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State-wise color classification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1737360"/>
            <a:ext cx="420624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2" name="Shape 40"/>
          <p:cNvSpPr/>
          <p:nvPr/>
        </p:nvSpPr>
        <p:spPr>
          <a:xfrm>
            <a:off x="4709160" y="1737360"/>
            <a:ext cx="50292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4709160" y="181051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03520" y="17739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Avg Profit by State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03520" y="2029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LOD profit comparison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2377440"/>
            <a:ext cx="420624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2377440"/>
            <a:ext cx="50292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4709160" y="24505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303520" y="24140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Monthly Sales by Segment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03520" y="26700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Consumer, Corporate, Home Office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3017520"/>
            <a:ext cx="420624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2" name="Shape 50"/>
          <p:cNvSpPr/>
          <p:nvPr/>
        </p:nvSpPr>
        <p:spPr>
          <a:xfrm>
            <a:off x="4709160" y="3017520"/>
            <a:ext cx="50292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3" name="Text 51"/>
          <p:cNvSpPr/>
          <p:nvPr/>
        </p:nvSpPr>
        <p:spPr>
          <a:xfrm>
            <a:off x="4709160" y="309067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303520" y="30540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Sales &amp; Profit by States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303520" y="33101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Geographic analysis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09160" y="3657600"/>
            <a:ext cx="420624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7" name="Shape 55"/>
          <p:cNvSpPr/>
          <p:nvPr/>
        </p:nvSpPr>
        <p:spPr>
          <a:xfrm>
            <a:off x="4709160" y="3657600"/>
            <a:ext cx="50292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8" name="Text 56"/>
          <p:cNvSpPr/>
          <p:nvPr/>
        </p:nvSpPr>
        <p:spPr>
          <a:xfrm>
            <a:off x="4709160" y="373075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303520" y="36941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Dynamic Measures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303520" y="3950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Parameter-driven CASE switching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09160" y="4297680"/>
            <a:ext cx="4206240" cy="5486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2" name="Shape 60"/>
          <p:cNvSpPr/>
          <p:nvPr/>
        </p:nvSpPr>
        <p:spPr>
          <a:xfrm>
            <a:off x="4709160" y="4297680"/>
            <a:ext cx="50292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3" name="Text 61"/>
          <p:cNvSpPr/>
          <p:nvPr/>
        </p:nvSpPr>
        <p:spPr>
          <a:xfrm>
            <a:off x="4709160" y="43708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303520" y="43342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Insights &amp; Findings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303520" y="45902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Top conclusions from the data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—  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15568"/>
            <a:ext cx="2743200" cy="374904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2743200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13385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Objective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746504"/>
            <a:ext cx="109728" cy="10972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91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Tableau dashboards for Sales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450592"/>
            <a:ext cx="109728" cy="10972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957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KPIs: Sales, Profit &amp; Quantity (CY vs PY)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154680"/>
            <a:ext cx="109728" cy="10972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9981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state-wise and segment-wise trends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858768"/>
            <a:ext cx="109728" cy="10972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80390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dynamic measure switching via Parameters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72968" y="1115568"/>
            <a:ext cx="2743200" cy="374904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115568"/>
            <a:ext cx="27432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282696" y="113385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Dataset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10128" y="1746504"/>
            <a:ext cx="109728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3493008" y="1691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Orders+ (Sales Data)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10128" y="2450592"/>
            <a:ext cx="109728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23957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Orders, People, Sheet1 (Hexmap)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10128" y="3154680"/>
            <a:ext cx="109728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3493008" y="309981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Sales, Profit, Quantity, Discount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10128" y="3858768"/>
            <a:ext cx="109728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3493008" y="380390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Dimensions: State, Segment, Ship Mode, Category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71616" y="1115568"/>
            <a:ext cx="2743200" cy="374904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71616" y="1115568"/>
            <a:ext cx="274320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6181344" y="113385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Tools Used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08776" y="1746504"/>
            <a:ext cx="109728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2" name="Text 30"/>
          <p:cNvSpPr/>
          <p:nvPr/>
        </p:nvSpPr>
        <p:spPr>
          <a:xfrm>
            <a:off x="6391656" y="1691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 for all visualizations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08776" y="2450592"/>
            <a:ext cx="109728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4" name="Text 32"/>
          <p:cNvSpPr/>
          <p:nvPr/>
        </p:nvSpPr>
        <p:spPr>
          <a:xfrm>
            <a:off x="6391656" y="23957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Expressions for fixed aggregations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08776" y="3154680"/>
            <a:ext cx="109728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6" name="Text 34"/>
          <p:cNvSpPr/>
          <p:nvPr/>
        </p:nvSpPr>
        <p:spPr>
          <a:xfrm>
            <a:off x="6391656" y="309981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CASE/IF statements for dynamic calculations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08776" y="3858768"/>
            <a:ext cx="109728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8" name="Text 36"/>
          <p:cNvSpPr/>
          <p:nvPr/>
        </p:nvSpPr>
        <p:spPr>
          <a:xfrm>
            <a:off x="6391656" y="380390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for user-driven measure switching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—  Data Source &amp; Fields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15568"/>
            <a:ext cx="4114800" cy="374904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4114800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3385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Fields — Orders Table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Order 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68249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Date of order placement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391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Sales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0391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Revenue per order 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3957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Profit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3957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Net profit per order 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7523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Quantity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75234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Units ordered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108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Discount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1089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Discount applied (%)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4655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Segment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46557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Consumer / Corporate / Home Office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822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State/Province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8221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Geographic dimension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1788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Ship Mode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41788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Shipping method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5354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Category / Sub-Cat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453542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Product classification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115568"/>
            <a:ext cx="4160520" cy="374904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115568"/>
            <a:ext cx="416052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13385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Calculated Fields &amp; Parameters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73168" y="1737360"/>
            <a:ext cx="91440" cy="20116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16824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CY Sales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18928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YEAR([Order Date])={MAX(YEAR(...))} THEN [Sales]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73168" y="2084832"/>
            <a:ext cx="9144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0299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PY Sales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22402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 year equivalent of CY Sales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73168" y="2432304"/>
            <a:ext cx="91440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23774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YOY Sales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258775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(CY - PY) / PY  →  Growth 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73168" y="2779776"/>
            <a:ext cx="91440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27249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YOY Indicator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293522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if positive, ▼ if negative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73168" y="3127248"/>
            <a:ext cx="91440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0723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Sales state wise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37760" y="32826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{FIXED [State]: AVG([CY Sales])}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73168" y="3474720"/>
            <a:ext cx="91440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6" name="Text 44"/>
          <p:cNvSpPr/>
          <p:nvPr/>
        </p:nvSpPr>
        <p:spPr>
          <a:xfrm>
            <a:off x="4937760" y="341985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Profit overall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37760" y="36301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{FIXED: AVG([CY Sales])}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73168" y="3822192"/>
            <a:ext cx="91440" cy="20116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9" name="Text 47"/>
          <p:cNvSpPr/>
          <p:nvPr/>
        </p:nvSpPr>
        <p:spPr>
          <a:xfrm>
            <a:off x="4937760" y="37673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Sales Avg Color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37760" y="39776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state &lt; overall THEN 'Below Avg'...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73168" y="4169664"/>
            <a:ext cx="9144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2" name="Text 50"/>
          <p:cNvSpPr/>
          <p:nvPr/>
        </p:nvSpPr>
        <p:spPr>
          <a:xfrm>
            <a:off x="4937760" y="41148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Dynamic Measure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37760" y="432511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[Parameter] WHEN... THEN...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73168" y="4517136"/>
            <a:ext cx="91440" cy="201168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55" name="Text 53"/>
          <p:cNvSpPr/>
          <p:nvPr/>
        </p:nvSpPr>
        <p:spPr>
          <a:xfrm>
            <a:off x="4937760" y="446227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Min Max Month/Profit/Qty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37760" y="46725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Sparkline highlight logic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—  Key Statistics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14173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011680" cy="91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0914"/>
                </a:solidFill>
              </a:rPr>
              <a:t>$2.3M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Total CY Sales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1097280"/>
            <a:ext cx="2011680" cy="14173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97280"/>
            <a:ext cx="201168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</a:rPr>
              <a:t>$286K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50592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Total CY Profit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1097280"/>
            <a:ext cx="2011680" cy="14173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97280"/>
            <a:ext cx="2011680" cy="91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</a:rPr>
              <a:t>37,873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26864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Total CY Quantity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03136" y="1097280"/>
            <a:ext cx="2011680" cy="14173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097280"/>
            <a:ext cx="2011680" cy="9144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0" name="Text 18"/>
          <p:cNvSpPr/>
          <p:nvPr/>
        </p:nvSpPr>
        <p:spPr>
          <a:xfrm>
            <a:off x="6803136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C653"/>
                </a:solidFill>
              </a:rPr>
              <a:t>14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803136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Worksheets Built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8595360" cy="21031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43200"/>
            <a:ext cx="8595360" cy="438912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76148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0914"/>
                </a:solidFill>
              </a:rPr>
              <a:t>Dataset Quick Summary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128016" cy="12801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325526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spans multiple years; Current Year (CY) vs Prior Year (PY) comparison built with IF + MAX LOD logic.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685032"/>
            <a:ext cx="128016" cy="12801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" y="36027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tracked: Consumer (highest revenue), Corporate, and Home Office — analyzed monthly by area chart.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032504"/>
            <a:ext cx="128016" cy="12801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39502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avg sales &amp; profit classified as Above Average / Below Average / Equal to Average using IF/ELSEIF.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379976"/>
            <a:ext cx="128016" cy="12801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Measure parameter lets users toggle between Sales, Profit, and Quantity without rebuilding views.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727448"/>
            <a:ext cx="128016" cy="12801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" y="46451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Sparklines use MIN/MAX calculated fields to highlight peak and trough months for each KPI.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—  Sales KPI &amp; Sparkline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15568"/>
            <a:ext cx="3840480" cy="374904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3840480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3385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Sales KPI Card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50914"/>
                </a:solidFill>
              </a:rPr>
              <a:t>$2,297,201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Total CY Sales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47472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Total PY Sales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8888"/>
                </a:solidFill>
              </a:rPr>
              <a:t>$2,097,132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YOY Growth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C653"/>
                </a:solidFill>
              </a:rPr>
              <a:t>+9.5%  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YOY Indicator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4114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C653"/>
                </a:solidFill>
              </a:rPr>
              <a:t>▲ Positive Growth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1115568"/>
            <a:ext cx="4480560" cy="374904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115568"/>
            <a:ext cx="4480560" cy="4572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1133856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Sales Sparkline  —  Monthly Trend</a:t>
            </a:r>
            <a:endParaRPr lang="en-US" sz="14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434840" y="1664208"/>
          <a:ext cx="42976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4480560" y="4315968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Peak months highlighted using MIN/MAX calculated field (Min Max Month).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▲ = CY above PY  |  Red ▼ = CY below PY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—  Profit KPI &amp; Sparkline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15568"/>
            <a:ext cx="3840480" cy="374904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384048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3385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Profit KPI Card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4D8"/>
                </a:solidFill>
              </a:rPr>
              <a:t>$286,397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Total CY Profit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47472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Total PY Profit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8888"/>
                </a:solidFill>
              </a:rPr>
              <a:t>$241,162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YOY Growth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C653"/>
                </a:solidFill>
              </a:rPr>
              <a:t>+18.8%  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Profit Margin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4114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B4D8"/>
                </a:solidFill>
              </a:rPr>
              <a:t>~12.5% of Sales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1115568"/>
            <a:ext cx="4480560" cy="374904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115568"/>
            <a:ext cx="4480560" cy="4572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1133856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Profit Sparkline  —  Monthly Trend</a:t>
            </a:r>
            <a:endParaRPr lang="en-US" sz="14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434840" y="1664208"/>
          <a:ext cx="42976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4480560" y="4315968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Min Max Profit calculated field highlights peak and lowest profit months in sparkline view.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—  Quantity KPI &amp; Sparkline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15568"/>
            <a:ext cx="3840480" cy="374904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384048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3385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</a:rPr>
              <a:t>Quantity KPI Card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4A261"/>
                </a:solidFill>
              </a:rPr>
              <a:t>37,873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Total CY Quantity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47472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Total PY Quantity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8888"/>
                </a:solidFill>
              </a:rPr>
              <a:t>34,506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YOY Growth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C653"/>
                </a:solidFill>
              </a:rPr>
              <a:t>+9.8%  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</a:rPr>
              <a:t>Top Segment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4114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A261"/>
                </a:solidFill>
              </a:rPr>
              <a:t>Consumer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1115568"/>
            <a:ext cx="4480560" cy="374904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115568"/>
            <a:ext cx="4480560" cy="4572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1133856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Quantity Sparkline  —  Monthly Trend</a:t>
            </a:r>
            <a:endParaRPr lang="en-US" sz="14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434840" y="1664208"/>
          <a:ext cx="42976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4480560" y="4315968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Min Max Quantity field drives sparkline color encoding to spotlight peak order months.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 —  Avg Sales by State — Color Classification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78992"/>
            <a:ext cx="2651760" cy="502920"/>
          </a:xfrm>
          <a:prstGeom prst="rect">
            <a:avLst/>
          </a:prstGeom>
          <a:solidFill>
            <a:srgbClr val="2DC653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789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Above Average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1078992"/>
            <a:ext cx="2651760" cy="502920"/>
          </a:xfrm>
          <a:prstGeom prst="rect">
            <a:avLst/>
          </a:prstGeom>
          <a:solidFill>
            <a:srgbClr val="E50914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10789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Below Average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078992"/>
            <a:ext cx="2651760" cy="502920"/>
          </a:xfrm>
          <a:prstGeom prst="rect">
            <a:avLst/>
          </a:prstGeom>
          <a:solidFill>
            <a:srgbClr val="F4A261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0789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Equal to Average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719072"/>
            <a:ext cx="4114800" cy="3145536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19072"/>
            <a:ext cx="4114800" cy="4206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7373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2231136"/>
            <a:ext cx="685800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3113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231136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Sales state wise 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{FIXED [State/Province]: AVG([Total CY Sales])}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127248"/>
            <a:ext cx="685800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272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3127248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Profit overall 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{FIXED : AVG([Total CY Sales])}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023360"/>
            <a:ext cx="685800" cy="25603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0233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402336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Avg Color 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[state] &lt; [overall] THEN 'Below Average'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 [state] &gt; [overall] THEN 'Above Average'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'Equal to Average' 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1719072"/>
            <a:ext cx="4206240" cy="3145536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719072"/>
            <a:ext cx="4206240" cy="4206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7373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</a:rPr>
              <a:t>Sample State Classification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2295144"/>
            <a:ext cx="201168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488" y="22311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California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223113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C653"/>
                </a:solidFill>
              </a:rPr>
              <a:t>$457K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47488" y="243230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Above Average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679192"/>
            <a:ext cx="201168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32" name="Text 30"/>
          <p:cNvSpPr/>
          <p:nvPr/>
        </p:nvSpPr>
        <p:spPr>
          <a:xfrm>
            <a:off x="5047488" y="26151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New York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26151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C653"/>
                </a:solidFill>
              </a:rPr>
              <a:t>$310K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47488" y="28163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Above Average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063240"/>
            <a:ext cx="201168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36" name="Text 34"/>
          <p:cNvSpPr/>
          <p:nvPr/>
        </p:nvSpPr>
        <p:spPr>
          <a:xfrm>
            <a:off x="5047488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Washington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29992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C653"/>
                </a:solidFill>
              </a:rPr>
              <a:t>$235K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47488" y="32004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Above Average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447288"/>
            <a:ext cx="201168" cy="20116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0" name="Text 38"/>
          <p:cNvSpPr/>
          <p:nvPr/>
        </p:nvSpPr>
        <p:spPr>
          <a:xfrm>
            <a:off x="5047488" y="3383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Texas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0" y="33832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0914"/>
                </a:solidFill>
              </a:rPr>
              <a:t>$170K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47488" y="35844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Below Average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831336"/>
            <a:ext cx="201168" cy="20116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4" name="Text 42"/>
          <p:cNvSpPr/>
          <p:nvPr/>
        </p:nvSpPr>
        <p:spPr>
          <a:xfrm>
            <a:off x="5047488" y="3767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Ohio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0" y="376732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0914"/>
                </a:solidFill>
              </a:rPr>
              <a:t>$138K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47488" y="396849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Below Average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4215384"/>
            <a:ext cx="201168" cy="20116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8" name="Text 46"/>
          <p:cNvSpPr/>
          <p:nvPr/>
        </p:nvSpPr>
        <p:spPr>
          <a:xfrm>
            <a:off x="5047488" y="41513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Pennsylvania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58000" y="41513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0914"/>
                </a:solidFill>
              </a:rPr>
              <a:t>$116K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47488" y="435254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Below Average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4599432"/>
            <a:ext cx="201168" cy="20116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2" name="Text 50"/>
          <p:cNvSpPr/>
          <p:nvPr/>
        </p:nvSpPr>
        <p:spPr>
          <a:xfrm>
            <a:off x="5047488" y="45354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Illinois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858000" y="453542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0914"/>
                </a:solidFill>
              </a:rPr>
              <a:t>$87K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47488" y="47365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Below Average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 —  Avg Profit by State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274320" y="1097280"/>
          <a:ext cx="51206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23560" y="1097280"/>
            <a:ext cx="3200400" cy="333756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097280"/>
            <a:ext cx="3200400" cy="4206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1155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Profit Avg Color Logic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160934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Profit Avg Color field classifies each state's average profit vs the national average: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2286000"/>
            <a:ext cx="29260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5760720" y="2286000"/>
            <a:ext cx="109728" cy="5486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32257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914"/>
                </a:solidFill>
              </a:rPr>
              <a:t>Below Avg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257860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State profit &lt; Overall avg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2971800"/>
            <a:ext cx="29260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3"/>
          <p:cNvSpPr/>
          <p:nvPr/>
        </p:nvSpPr>
        <p:spPr>
          <a:xfrm>
            <a:off x="5760720" y="2971800"/>
            <a:ext cx="109728" cy="54864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0" y="300837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</a:rPr>
              <a:t>Above Avg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326440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State profit &gt; Overall avg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60720" y="3657600"/>
            <a:ext cx="29260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7"/>
          <p:cNvSpPr/>
          <p:nvPr/>
        </p:nvSpPr>
        <p:spPr>
          <a:xfrm>
            <a:off x="5760720" y="3657600"/>
            <a:ext cx="109728" cy="548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0" y="369417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Equal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395020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State profit = Overall avg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6072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LOD calc: {FIXED [State/Province]: AVG([Total CY Sales (copy)])}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Note: Profit KPI uses 'avg profit state wise' vs 'avg Profit overall' for the color dimension.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 —  Monthly Sales by Segment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274320" y="1097280"/>
          <a:ext cx="55778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1097280"/>
            <a:ext cx="2743200" cy="32461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80760" y="1097280"/>
            <a:ext cx="2743200" cy="42062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1155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</a:rPr>
              <a:t>Segment Insights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164592" cy="16459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Text 8"/>
          <p:cNvSpPr/>
          <p:nvPr/>
        </p:nvSpPr>
        <p:spPr>
          <a:xfrm>
            <a:off x="6473952" y="1627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Consumer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73952" y="18653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~52%  —  Largest revenue driver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221992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21579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Corporate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73952" y="23957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~31%  —  Steady growth pattern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2752344"/>
            <a:ext cx="164592" cy="1645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4"/>
          <p:cNvSpPr/>
          <p:nvPr/>
        </p:nvSpPr>
        <p:spPr>
          <a:xfrm>
            <a:off x="6473952" y="26883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Home Office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73952" y="29260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~17%  —  Smallest but rising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3282696"/>
            <a:ext cx="164592" cy="16459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0" name="Text 17"/>
          <p:cNvSpPr/>
          <p:nvPr/>
        </p:nvSpPr>
        <p:spPr>
          <a:xfrm>
            <a:off x="6473952" y="32186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Peak Month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73952" y="345643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Nov  —  Highest sales across all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17920" y="3813048"/>
            <a:ext cx="164592" cy="16459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3" name="Text 20"/>
          <p:cNvSpPr/>
          <p:nvPr/>
        </p:nvSpPr>
        <p:spPr>
          <a:xfrm>
            <a:off x="6473952" y="3749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Chart Type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73952" y="39867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Area  —  SUM(Dynamic Measure) on rows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4462272"/>
            <a:ext cx="854964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3"/>
          <p:cNvSpPr/>
          <p:nvPr/>
        </p:nvSpPr>
        <p:spPr>
          <a:xfrm>
            <a:off x="411480" y="44805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Sheet: Monthly Sales by Segment  |  Columns: Segment + MONTH(Order Date)  |  Rows: SUM(Dynamic Measure)  |  Mark: Area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 —  Sales &amp; Profit by States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274320" y="1097280"/>
          <a:ext cx="85953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526280"/>
            <a:ext cx="8595360" cy="347472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54456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Sheet: Sales and Profit by States  |  Also includes: Region wise Sales &amp; Total Sales by Location Manager worksheets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 —  Dynamic Measures — Parameter Switching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2412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The 'Select Measure' parameter lets users switch KPIs without rebuilding any view.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2743200" cy="21031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36192"/>
            <a:ext cx="2743200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55448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55555"/>
                </a:solidFill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Parameter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'Select Measure'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066544"/>
            <a:ext cx="252374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picks: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Total CY Sales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Total CY Profit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Total CY Quantity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35808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154680" y="1536192"/>
            <a:ext cx="2743200" cy="21031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536192"/>
            <a:ext cx="27432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227832" y="155448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55555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0" y="155448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CASE Formula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'Dynamic Measure'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64408" y="2066544"/>
            <a:ext cx="252374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[Select Measure]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'Total CY Sales'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[Total CY Sales]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16168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35040" y="1536192"/>
            <a:ext cx="2743200" cy="21031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536192"/>
            <a:ext cx="274320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6108192" y="155448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55555"/>
                </a:solidFill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155448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Chart Redraws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Instantly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44768" y="2066544"/>
            <a:ext cx="252374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shelf: SUM(Dynamic Measure)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segments update automatically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view rebuild needed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0D0D0D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794760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[Parameters].[Select Measure]
</a:t>
            </a: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</a:t>
            </a: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'Total CY Sales'    </a:t>
            </a: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</a:t>
            </a: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[Total CY Sales]
</a:t>
            </a: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</a:t>
            </a: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'Total CY Profit'   </a:t>
            </a: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</a:t>
            </a: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[Total CY Profit]
</a:t>
            </a: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</a:t>
            </a: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'Total CY Quantity' </a:t>
            </a: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</a:t>
            </a: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[Total CY Quantity]
</a:t>
            </a:r>
            <a:r>
              <a:rPr lang="en-US" sz="1100" b="1" dirty="0">
                <a:solidFill>
                  <a:srgbClr val="E50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/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Dashboard - 1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1DAAA8-7F12-B471-822F-3FA9CA975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0" y="969264"/>
            <a:ext cx="9057959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B6859-241B-A0D8-D3B6-798372B1F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>
            <a:extLst>
              <a:ext uri="{FF2B5EF4-FFF2-40B4-BE49-F238E27FC236}">
                <a16:creationId xmlns:a16="http://schemas.microsoft.com/office/drawing/2014/main" id="{4DCEF5B6-078C-8880-C377-3F9EDD414E6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HdrAccent">
            <a:extLst>
              <a:ext uri="{FF2B5EF4-FFF2-40B4-BE49-F238E27FC236}">
                <a16:creationId xmlns:a16="http://schemas.microsoft.com/office/drawing/2014/main" id="{08A5F3D6-88EC-0209-195A-AFF77DD1BBA7}"/>
              </a:ext>
            </a:extLst>
          </p:cNvPr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HdrLine">
            <a:extLst>
              <a:ext uri="{FF2B5EF4-FFF2-40B4-BE49-F238E27FC236}">
                <a16:creationId xmlns:a16="http://schemas.microsoft.com/office/drawing/2014/main" id="{E2AB606E-D3A7-8814-7108-67096C44D23F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HdrTitle">
            <a:extLst>
              <a:ext uri="{FF2B5EF4-FFF2-40B4-BE49-F238E27FC236}">
                <a16:creationId xmlns:a16="http://schemas.microsoft.com/office/drawing/2014/main" id="{9383A1EA-371D-42BF-40B0-8CDFB43389A3}"/>
              </a:ext>
            </a:extLst>
          </p:cNvPr>
          <p:cNvSpPr/>
          <p:nvPr/>
        </p:nvSpPr>
        <p:spPr>
          <a:xfrm>
            <a:off x="228600" y="109728"/>
            <a:ext cx="8686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</a:rPr>
              <a:t>Dashboard - 2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44188D-5C68-3E16-3A34-0BA8B2EFA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5" y="1024128"/>
            <a:ext cx="9043750" cy="406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97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0972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 —  Key Insights &amp; Findings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8942832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160520" cy="11887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58368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33856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1521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0914"/>
                </a:solidFill>
              </a:rPr>
              <a:t>Sales Growth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157276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CY Sales reached $2.3M — a +9.5% YOY improvement, with November as the peak month.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60520" cy="11887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658368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133856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58968" y="11521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Profit Surge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18888" y="157276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 Profit hit $286K, growing +18.8% YOY. West &amp; East regions are the most profitable.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404872"/>
            <a:ext cx="4160520" cy="11887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04872"/>
            <a:ext cx="658368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4414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4128" y="24597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</a:rPr>
              <a:t>Consumer Leads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" y="2880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drives ~52% of revenue. Corporate is steady; Home Office is growing.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404872"/>
            <a:ext cx="4160520" cy="11887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404872"/>
            <a:ext cx="658368" cy="4572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44144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24597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C653"/>
                </a:solidFill>
              </a:rPr>
              <a:t>State Insights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18888" y="2880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&amp; New York are above-average states. Central US states mostly fall below average.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712464"/>
            <a:ext cx="4160520" cy="11887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712464"/>
            <a:ext cx="658368" cy="4572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74904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4128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0914"/>
                </a:solidFill>
              </a:rPr>
              <a:t>Dynamic Power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84048" y="418795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parameter lets stakeholders switch KPIs instantly — no separate sheets needed.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712464"/>
            <a:ext cx="4160520" cy="1188720"/>
          </a:xfrm>
          <a:prstGeom prst="rect">
            <a:avLst/>
          </a:prstGeom>
          <a:solidFill>
            <a:srgbClr val="2A2A2A"/>
          </a:solidFill>
          <a:ln/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712464"/>
            <a:ext cx="658368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74904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58968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Sparkline Magic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818888" y="418795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calculated fields highlight best &amp; worst months per KPI for quick visual scanning.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459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3474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5E5E5"/>
                </a:solidFill>
              </a:rPr>
              <a:t>Sales Data Analysis — Tableau Desktop Project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</a:rPr>
              <a:t>Built with  Tableau Desktop   •   Orders+ (Sales Data)   •   LOD  •  Parameters  •  Sparklines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0914"/>
                </a:solidFill>
              </a:rPr>
              <a:t>14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Worksheets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37947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0914"/>
                </a:solidFill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834640" y="4434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KPI Scorecards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7947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0914"/>
                </a:solidFill>
              </a:rPr>
              <a:t>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54880" y="4434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Sparkline Views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37947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0914"/>
                </a:solidFill>
              </a:rPr>
              <a:t>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675120" y="4434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Dynamic Parameter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</a:rPr>
              <a:t>Questions &amp; Discussion   |   Tableau Sales Data Analysis Project</a:t>
            </a:r>
            <a:endParaRPr lang="en-US" sz="11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82C9F6B-BE67-3056-0E3C-65979F96D38A}"/>
              </a:ext>
            </a:extLst>
          </p:cNvPr>
          <p:cNvSpPr/>
          <p:nvPr/>
        </p:nvSpPr>
        <p:spPr>
          <a:xfrm>
            <a:off x="684731" y="3038539"/>
            <a:ext cx="12859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lnSpc>
                <a:spcPts val="2701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6294653977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9DD63E9-1001-09DC-DAAC-305A83659CBC}"/>
              </a:ext>
            </a:extLst>
          </p:cNvPr>
          <p:cNvSpPr txBox="1"/>
          <p:nvPr/>
        </p:nvSpPr>
        <p:spPr>
          <a:xfrm>
            <a:off x="4452017" y="3116564"/>
            <a:ext cx="1856573" cy="256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5"/>
              </a:lnSpc>
            </a:pPr>
            <a:r>
              <a:rPr lang="en-US" sz="1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Berhampore ,West Bengal</a:t>
            </a:r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22892EA6-27F4-4AEA-79B9-B24B0228C77F}"/>
              </a:ext>
            </a:extLst>
          </p:cNvPr>
          <p:cNvSpPr/>
          <p:nvPr/>
        </p:nvSpPr>
        <p:spPr>
          <a:xfrm>
            <a:off x="1906662" y="3110584"/>
            <a:ext cx="288318" cy="288318"/>
          </a:xfrm>
          <a:custGeom>
            <a:avLst/>
            <a:gdLst/>
            <a:ahLst/>
            <a:cxnLst/>
            <a:rect l="l" t="t" r="r" b="b"/>
            <a:pathLst>
              <a:path w="288318" h="288318">
                <a:moveTo>
                  <a:pt x="0" y="0"/>
                </a:moveTo>
                <a:lnTo>
                  <a:pt x="288318" y="0"/>
                </a:lnTo>
                <a:lnTo>
                  <a:pt x="288318" y="288317"/>
                </a:lnTo>
                <a:lnTo>
                  <a:pt x="0" y="28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5CE22149-2941-CEE7-7741-4DEC4FBA1CD6}"/>
              </a:ext>
            </a:extLst>
          </p:cNvPr>
          <p:cNvSpPr/>
          <p:nvPr/>
        </p:nvSpPr>
        <p:spPr>
          <a:xfrm>
            <a:off x="421882" y="3110584"/>
            <a:ext cx="288318" cy="288318"/>
          </a:xfrm>
          <a:custGeom>
            <a:avLst/>
            <a:gdLst/>
            <a:ahLst/>
            <a:cxnLst/>
            <a:rect l="l" t="t" r="r" b="b"/>
            <a:pathLst>
              <a:path w="288318" h="288318">
                <a:moveTo>
                  <a:pt x="0" y="0"/>
                </a:moveTo>
                <a:lnTo>
                  <a:pt x="288318" y="0"/>
                </a:lnTo>
                <a:lnTo>
                  <a:pt x="288318" y="288317"/>
                </a:lnTo>
                <a:lnTo>
                  <a:pt x="0" y="288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Freeform 15">
            <a:extLst>
              <a:ext uri="{FF2B5EF4-FFF2-40B4-BE49-F238E27FC236}">
                <a16:creationId xmlns:a16="http://schemas.microsoft.com/office/drawing/2014/main" id="{19AD4124-ECCD-7516-D350-030172CAAB9F}"/>
              </a:ext>
            </a:extLst>
          </p:cNvPr>
          <p:cNvSpPr/>
          <p:nvPr/>
        </p:nvSpPr>
        <p:spPr>
          <a:xfrm>
            <a:off x="4111545" y="3118422"/>
            <a:ext cx="280480" cy="280480"/>
          </a:xfrm>
          <a:custGeom>
            <a:avLst/>
            <a:gdLst/>
            <a:ahLst/>
            <a:cxnLst/>
            <a:rect l="l" t="t" r="r" b="b"/>
            <a:pathLst>
              <a:path w="280480" h="280480">
                <a:moveTo>
                  <a:pt x="0" y="0"/>
                </a:moveTo>
                <a:lnTo>
                  <a:pt x="280480" y="0"/>
                </a:lnTo>
                <a:lnTo>
                  <a:pt x="280480" y="280480"/>
                </a:lnTo>
                <a:lnTo>
                  <a:pt x="0" y="280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0223E43F-A924-97B5-11CE-FFF4D09C6134}"/>
              </a:ext>
            </a:extLst>
          </p:cNvPr>
          <p:cNvSpPr txBox="1"/>
          <p:nvPr/>
        </p:nvSpPr>
        <p:spPr>
          <a:xfrm>
            <a:off x="2286000" y="3066735"/>
            <a:ext cx="1821792" cy="300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1200" dirty="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rimi.singha01@gmail.com</a:t>
            </a:r>
            <a:endParaRPr lang="en-US" sz="1200" dirty="0">
              <a:solidFill>
                <a:schemeClr val="bg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603B3B7-B9A0-19C3-1ED0-EA487C643FF9}"/>
              </a:ext>
            </a:extLst>
          </p:cNvPr>
          <p:cNvSpPr/>
          <p:nvPr/>
        </p:nvSpPr>
        <p:spPr>
          <a:xfrm>
            <a:off x="6143783" y="3166368"/>
            <a:ext cx="317012" cy="228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783A9112-26E9-1B0D-6C5A-6538C385C248}"/>
              </a:ext>
            </a:extLst>
          </p:cNvPr>
          <p:cNvSpPr txBox="1"/>
          <p:nvPr/>
        </p:nvSpPr>
        <p:spPr>
          <a:xfrm>
            <a:off x="6488121" y="3003571"/>
            <a:ext cx="2634448" cy="365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359"/>
              </a:lnSpc>
              <a:spcBef>
                <a:spcPct val="0"/>
              </a:spcBef>
            </a:pPr>
            <a:r>
              <a:rPr lang="en-US" sz="1100" dirty="0">
                <a:solidFill>
                  <a:schemeClr val="bg1"/>
                </a:solidFill>
                <a:hlinkClick r:id="rId7" tooltip="www.linkedin.com/in/rimi-singha-3093b532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www.linkedin.com/in/rimi-singha-3093b532b</a:t>
            </a:r>
            <a:endParaRPr lang="en-US" sz="1400" b="1" u="none" strike="noStrike" dirty="0">
              <a:solidFill>
                <a:schemeClr val="bg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94DDAAC3-6165-1792-4A68-FD73D9055174}"/>
              </a:ext>
            </a:extLst>
          </p:cNvPr>
          <p:cNvSpPr/>
          <p:nvPr/>
        </p:nvSpPr>
        <p:spPr>
          <a:xfrm>
            <a:off x="6162041" y="3201399"/>
            <a:ext cx="280495" cy="166985"/>
          </a:xfrm>
          <a:custGeom>
            <a:avLst/>
            <a:gdLst/>
            <a:ahLst/>
            <a:cxnLst/>
            <a:rect l="l" t="t" r="r" b="b"/>
            <a:pathLst>
              <a:path w="421928" h="210964">
                <a:moveTo>
                  <a:pt x="0" y="0"/>
                </a:moveTo>
                <a:lnTo>
                  <a:pt x="421929" y="0"/>
                </a:lnTo>
                <a:lnTo>
                  <a:pt x="421929" y="210964"/>
                </a:lnTo>
                <a:lnTo>
                  <a:pt x="0" y="210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1433</Words>
  <Application>Microsoft Office PowerPoint</Application>
  <PresentationFormat>On-screen Show (16:9)</PresentationFormat>
  <Paragraphs>306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Arimo</vt:lpstr>
      <vt:lpstr>Arimo Italics</vt:lpstr>
      <vt:lpstr>Calibri</vt:lpstr>
      <vt:lpstr>Consolas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 - Tableau Project</dc:title>
  <dc:subject>PptxGenJS Presentation</dc:subject>
  <dc:creator>PptxGenJS</dc:creator>
  <cp:lastModifiedBy>Rimi Singha</cp:lastModifiedBy>
  <cp:revision>3</cp:revision>
  <dcterms:created xsi:type="dcterms:W3CDTF">2026-05-10T22:08:42Z</dcterms:created>
  <dcterms:modified xsi:type="dcterms:W3CDTF">2026-05-10T22:28:09Z</dcterms:modified>
</cp:coreProperties>
</file>